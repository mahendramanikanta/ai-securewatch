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73818" autoAdjust="0"/>
  </p:normalViewPr>
  <p:slideViewPr>
    <p:cSldViewPr snapToGrid="0">
      <p:cViewPr varScale="1">
        <p:scale>
          <a:sx n="82" d="100"/>
          <a:sy n="82" d="100"/>
        </p:scale>
        <p:origin x="710" y="9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23-01-2026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ai-securewatch.onrender.com/" TargetMode="External"/><Relationship Id="rId2" Type="http://schemas.openxmlformats.org/officeDocument/2006/relationships/hyperlink" Target="https://github.com/mahendramanikanta/ai-securewatch"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owasp.org/" TargetMode="External"/><Relationship Id="rId2" Type="http://schemas.openxmlformats.org/officeDocument/2006/relationships/hyperlink" Target="https://flask.palletsprojects.com/" TargetMode="External"/><Relationship Id="rId1" Type="http://schemas.openxmlformats.org/officeDocument/2006/relationships/slideLayout" Target="../slideLayouts/slideLayout3.xml"/><Relationship Id="rId6" Type="http://schemas.openxmlformats.org/officeDocument/2006/relationships/hyperlink" Target="https://docs.github.com/" TargetMode="External"/><Relationship Id="rId5" Type="http://schemas.openxmlformats.org/officeDocument/2006/relationships/hyperlink" Target="https://tailwindcss.com/docs" TargetMode="External"/><Relationship Id="rId4" Type="http://schemas.openxmlformats.org/officeDocument/2006/relationships/hyperlink" Target="https://cloudsecurityalliance.org/"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391886" y="1296971"/>
            <a:ext cx="5042856" cy="1997367"/>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latin typeface="Times New Roman" panose="02020603050405020304" pitchFamily="18" charset="0"/>
                <a:cs typeface="Times New Roman" panose="02020603050405020304" pitchFamily="18" charset="0"/>
              </a:rPr>
              <a:t>AI-SecureWatch </a:t>
            </a:r>
          </a:p>
          <a:p>
            <a:pPr algn="l"/>
            <a:r>
              <a:rPr lang="en-US" sz="4000" dirty="0">
                <a:latin typeface="Times New Roman" panose="02020603050405020304" pitchFamily="18" charset="0"/>
                <a:cs typeface="Times New Roman" panose="02020603050405020304" pitchFamily="18" charset="0"/>
              </a:rPr>
              <a:t>AI-Driven Cloud Security Monitoring Platform</a:t>
            </a:r>
            <a:endParaRPr lang="en-US" sz="4000" b="1"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Manikanta Pathakoti</a:t>
            </a:r>
          </a:p>
          <a:p>
            <a:pPr algn="l">
              <a:spcAft>
                <a:spcPts val="600"/>
              </a:spcAft>
            </a:pPr>
            <a:r>
              <a:rPr lang="en-US" sz="1600" b="1" cap="all" dirty="0"/>
              <a:t>College Name: Geethanjali College of Engineering and technology</a:t>
            </a:r>
          </a:p>
          <a:p>
            <a:pPr algn="l">
              <a:spcAft>
                <a:spcPts val="600"/>
              </a:spcAft>
            </a:pPr>
            <a:r>
              <a:rPr lang="en-US" sz="1600" b="1" cap="all" dirty="0"/>
              <a:t>Department: CSE-IOT</a:t>
            </a:r>
          </a:p>
          <a:p>
            <a:pPr algn="l">
              <a:spcAft>
                <a:spcPts val="600"/>
              </a:spcAft>
            </a:pPr>
            <a:r>
              <a:rPr lang="en-US" sz="1600" b="1" cap="all" dirty="0"/>
              <a:t>Email ID: 22r11a6925@gcet.edu.in</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l="12154" t="740" r="3131" b="26665"/>
          <a:stretch>
            <a:fillRect/>
          </a:stretch>
        </p:blipFill>
        <p:spPr>
          <a:xfrm>
            <a:off x="6713318" y="1142388"/>
            <a:ext cx="4444678" cy="4460028"/>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Image)/(Live Demo)</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1800" dirty="0"/>
              <a:t>Organizations today operate complex cloud-based infrastructures that generate massive volumes of security-related events such as login attempts, access requests, API calls, and network traffic. Traditional security monitoring approaches rely heavily on manual analysis and rule-based alerts, which are inefficient, slow, and prone to human error.</a:t>
            </a:r>
          </a:p>
          <a:p>
            <a:r>
              <a:rPr lang="en-US" sz="1800" dirty="0"/>
              <a:t>Due to the lack of an intelligent, centralized Security Operations Center (SOC), organizations face challenges in detecting anomalous behavior in real time, responding quickly to threats, and maintaining consistent security visibility. This results in delayed incident response, increased risk of account compromise, and difficulty in ensuring proactive cloud security.</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r>
              <a:rPr lang="en-US" sz="1200" dirty="0"/>
              <a:t>The proposed system, </a:t>
            </a:r>
            <a:r>
              <a:rPr lang="en-US" sz="1200" b="1" dirty="0"/>
              <a:t>AI SecureWatch</a:t>
            </a:r>
            <a:r>
              <a:rPr lang="en-US" sz="1200" dirty="0"/>
              <a:t>, is an AI-driven cloud security monitoring platform designed to detect, analyze, and respond to security threats automatically.</a:t>
            </a:r>
          </a:p>
          <a:p>
            <a:r>
              <a:rPr lang="en-US" sz="1200" b="1" dirty="0"/>
              <a:t>Key Features</a:t>
            </a:r>
          </a:p>
          <a:p>
            <a:r>
              <a:rPr lang="en-US" sz="1200" dirty="0"/>
              <a:t>Real-time threat analysis using behavioral signals</a:t>
            </a:r>
          </a:p>
          <a:p>
            <a:r>
              <a:rPr lang="en-US" sz="1200" dirty="0"/>
              <a:t>Automated risk scoring and severity classification</a:t>
            </a:r>
          </a:p>
          <a:p>
            <a:r>
              <a:rPr lang="en-US" sz="1200" dirty="0"/>
              <a:t>SOC-style dashboard with live monitoring</a:t>
            </a:r>
          </a:p>
          <a:p>
            <a:r>
              <a:rPr lang="en-US" sz="1200" dirty="0"/>
              <a:t>Automated security response recommendations</a:t>
            </a:r>
          </a:p>
          <a:p>
            <a:r>
              <a:rPr lang="en-US" sz="1200" dirty="0"/>
              <a:t>Centralized incident logging and visualization</a:t>
            </a:r>
          </a:p>
          <a:p>
            <a:r>
              <a:rPr lang="en-US" sz="1200" b="1" dirty="0"/>
              <a:t>Workflow</a:t>
            </a:r>
          </a:p>
          <a:p>
            <a:r>
              <a:rPr lang="en-US" sz="1200" b="1" dirty="0"/>
              <a:t>Data Collection</a:t>
            </a:r>
            <a:br>
              <a:rPr lang="en-US" sz="1200" dirty="0"/>
            </a:br>
            <a:r>
              <a:rPr lang="en-US" sz="1200" dirty="0"/>
              <a:t>Security activity data such as login hour, failed login attempts, request rate, role access, and IP reputation is collected from user inputs or system logs.</a:t>
            </a:r>
          </a:p>
          <a:p>
            <a:r>
              <a:rPr lang="en-US" sz="1200" b="1" dirty="0"/>
              <a:t>Signal Extraction</a:t>
            </a:r>
            <a:br>
              <a:rPr lang="en-US" sz="1200" dirty="0"/>
            </a:br>
            <a:r>
              <a:rPr lang="en-US" sz="1200" dirty="0"/>
              <a:t>Raw activity data is converted into meaningful security signals.</a:t>
            </a:r>
          </a:p>
          <a:p>
            <a:r>
              <a:rPr lang="en-US" sz="1200" b="1" dirty="0"/>
              <a:t>Risk Analysis</a:t>
            </a:r>
            <a:br>
              <a:rPr lang="en-US" sz="1200" dirty="0"/>
            </a:br>
            <a:r>
              <a:rPr lang="en-US" sz="1200" dirty="0"/>
              <a:t>Signals are evaluated to calculate a risk score and severity level.</a:t>
            </a:r>
          </a:p>
          <a:p>
            <a:r>
              <a:rPr lang="en-US" sz="1200" b="1" dirty="0"/>
              <a:t>Automated Response</a:t>
            </a:r>
            <a:br>
              <a:rPr lang="en-US" sz="1200" dirty="0"/>
            </a:br>
            <a:r>
              <a:rPr lang="en-US" sz="1200" dirty="0"/>
              <a:t>Based on severity, appropriate security actions are generated.</a:t>
            </a:r>
          </a:p>
          <a:p>
            <a:r>
              <a:rPr lang="en-US" sz="1200" b="1" dirty="0"/>
              <a:t>Visualization &amp; Monitoring</a:t>
            </a:r>
            <a:br>
              <a:rPr lang="en-US" sz="1200" dirty="0"/>
            </a:br>
            <a:r>
              <a:rPr lang="en-US" sz="1200" dirty="0"/>
              <a:t>Results are displayed on a SOC-style web dashboard.</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08079" y="1435668"/>
            <a:ext cx="10655391" cy="4251960"/>
          </a:xfrm>
        </p:spPr>
        <p:txBody>
          <a:bodyPr vert="horz" lIns="91440" tIns="45720" rIns="91440" bIns="45720" rtlCol="0">
            <a:normAutofit fontScale="47500" lnSpcReduction="20000"/>
          </a:bodyPr>
          <a:lstStyle/>
          <a:p>
            <a:pPr marL="0" indent="0">
              <a:buNone/>
            </a:pPr>
            <a:r>
              <a:rPr lang="en-IN" sz="2500" b="1" dirty="0"/>
              <a:t>System Architecture</a:t>
            </a:r>
          </a:p>
          <a:p>
            <a:pPr marL="0" indent="0">
              <a:buNone/>
            </a:pPr>
            <a:r>
              <a:rPr lang="en-IN" dirty="0">
                <a:latin typeface="Times New Roman" panose="02020603050405020304" pitchFamily="18" charset="0"/>
                <a:cs typeface="Times New Roman" panose="02020603050405020304" pitchFamily="18" charset="0"/>
              </a:rPr>
              <a:t>User Activity → Flask Backend → Signal Engine →</a:t>
            </a:r>
          </a:p>
          <a:p>
            <a:pPr marL="0" indent="0">
              <a:buNone/>
            </a:pPr>
            <a:r>
              <a:rPr lang="en-IN" dirty="0">
                <a:latin typeface="Times New Roman" panose="02020603050405020304" pitchFamily="18" charset="0"/>
                <a:cs typeface="Times New Roman" panose="02020603050405020304" pitchFamily="18" charset="0"/>
              </a:rPr>
              <a:t>Risk Engine → Response Engine → SOC Dashboard</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Security Logger</a:t>
            </a:r>
          </a:p>
          <a:p>
            <a:pPr marL="0" indent="0">
              <a:buNone/>
            </a:pPr>
            <a:r>
              <a:rPr lang="en-IN" sz="1600" b="1" dirty="0"/>
              <a:t>Approach</a:t>
            </a:r>
          </a:p>
          <a:p>
            <a:r>
              <a:rPr lang="en-IN" sz="1600" dirty="0"/>
              <a:t>Extract security-related signals from incoming activity data</a:t>
            </a:r>
          </a:p>
          <a:p>
            <a:r>
              <a:rPr lang="en-IN" sz="1600" dirty="0"/>
              <a:t>Process and </a:t>
            </a:r>
            <a:r>
              <a:rPr lang="en-IN" sz="1600" dirty="0" err="1"/>
              <a:t>analyze</a:t>
            </a:r>
            <a:r>
              <a:rPr lang="en-IN" sz="1600" dirty="0"/>
              <a:t> signals using rule-based AI logic</a:t>
            </a:r>
          </a:p>
          <a:p>
            <a:r>
              <a:rPr lang="en-IN" sz="1600" dirty="0"/>
              <a:t>Compute risk score and severity levels</a:t>
            </a:r>
          </a:p>
          <a:p>
            <a:r>
              <a:rPr lang="en-IN" sz="1600" dirty="0"/>
              <a:t>Trigger automated security responses</a:t>
            </a:r>
          </a:p>
          <a:p>
            <a:r>
              <a:rPr lang="en-IN" sz="1600" dirty="0"/>
              <a:t>Display results using an interactive web dashboard</a:t>
            </a:r>
          </a:p>
          <a:p>
            <a:r>
              <a:rPr lang="en-IN" sz="1600" b="1" dirty="0"/>
              <a:t>Technology Stack Used</a:t>
            </a:r>
          </a:p>
          <a:p>
            <a:r>
              <a:rPr lang="en-IN" sz="1600" b="1" dirty="0"/>
              <a:t>Backend:</a:t>
            </a:r>
            <a:r>
              <a:rPr lang="en-IN" sz="1600" dirty="0"/>
              <a:t> Python, Flask</a:t>
            </a:r>
          </a:p>
          <a:p>
            <a:r>
              <a:rPr lang="en-IN" sz="1600" b="1" dirty="0"/>
              <a:t>Frontend:</a:t>
            </a:r>
            <a:r>
              <a:rPr lang="en-IN" sz="1600" dirty="0"/>
              <a:t> HTML, Tailwind CSS, JavaScript</a:t>
            </a:r>
          </a:p>
          <a:p>
            <a:r>
              <a:rPr lang="en-IN" sz="1600" b="1" dirty="0"/>
              <a:t>Security Logic:</a:t>
            </a:r>
            <a:r>
              <a:rPr lang="en-IN" sz="1600" dirty="0"/>
              <a:t> Custom Rule-Based AI Engines</a:t>
            </a:r>
          </a:p>
          <a:p>
            <a:r>
              <a:rPr lang="en-IN" sz="1600" b="1" dirty="0"/>
              <a:t>Deployment:</a:t>
            </a:r>
            <a:r>
              <a:rPr lang="en-IN" sz="1600" dirty="0"/>
              <a:t> Render Cloud Platform</a:t>
            </a:r>
          </a:p>
          <a:p>
            <a:r>
              <a:rPr lang="en-IN" sz="1600" b="1" dirty="0"/>
              <a:t>Version Control:</a:t>
            </a:r>
            <a:r>
              <a:rPr lang="en-IN" sz="1600" dirty="0"/>
              <a:t> Git &amp; GitHub</a:t>
            </a:r>
          </a:p>
          <a:p>
            <a:r>
              <a:rPr lang="en-IN" sz="1600" b="1" dirty="0"/>
              <a:t>Operating System:</a:t>
            </a:r>
            <a:r>
              <a:rPr lang="en-IN" sz="1600" dirty="0"/>
              <a:t> Windows </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3200" b="1" cap="all" dirty="0">
                <a:latin typeface="Arial"/>
                <a:cs typeface="Arial"/>
              </a:rPr>
              <a:t>Algorithm &amp; Deployment:</a:t>
            </a:r>
            <a:endParaRPr lang="en-US" sz="32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197735" y="1217440"/>
            <a:ext cx="6898028" cy="5194935"/>
          </a:xfrm>
        </p:spPr>
        <p:txBody>
          <a:bodyPr vert="horz" lIns="91440" tIns="45720" rIns="91440" bIns="45720" rtlCol="0">
            <a:noAutofit/>
          </a:bodyPr>
          <a:lstStyle/>
          <a:p>
            <a:pPr marL="0" indent="0">
              <a:buNone/>
            </a:pPr>
            <a:r>
              <a:rPr lang="en-US" sz="1200" b="1" dirty="0"/>
              <a:t>Algorithm</a:t>
            </a:r>
          </a:p>
          <a:p>
            <a:r>
              <a:rPr lang="en-US" sz="1200" dirty="0"/>
              <a:t>The system uses </a:t>
            </a:r>
            <a:r>
              <a:rPr lang="en-US" sz="1200" b="1" dirty="0"/>
              <a:t>rule-based AI logic</a:t>
            </a:r>
            <a:r>
              <a:rPr lang="en-US" sz="1200" dirty="0"/>
              <a:t> instead of machine learning models because the goal is </a:t>
            </a:r>
            <a:r>
              <a:rPr lang="en-US" sz="1200" b="1" dirty="0"/>
              <a:t>real-time security decision-making</a:t>
            </a:r>
            <a:r>
              <a:rPr lang="en-US" sz="1200" dirty="0"/>
              <a:t> with explainable outcomes.</a:t>
            </a:r>
          </a:p>
          <a:p>
            <a:pPr marL="0" indent="0">
              <a:buNone/>
            </a:pPr>
            <a:r>
              <a:rPr lang="en-US" sz="1200" b="1" dirty="0"/>
              <a:t>Inputs</a:t>
            </a:r>
          </a:p>
          <a:p>
            <a:r>
              <a:rPr lang="en-US" sz="1200" dirty="0"/>
              <a:t>Login hour (0–23)</a:t>
            </a:r>
          </a:p>
          <a:p>
            <a:r>
              <a:rPr lang="en-US" sz="1200" dirty="0"/>
              <a:t>Failed login attempts</a:t>
            </a:r>
          </a:p>
          <a:p>
            <a:r>
              <a:rPr lang="en-US" sz="1200" dirty="0"/>
              <a:t>Requests per minute</a:t>
            </a:r>
          </a:p>
          <a:p>
            <a:r>
              <a:rPr lang="en-US" sz="1200" dirty="0"/>
              <a:t>Role access (User/Admin)</a:t>
            </a:r>
          </a:p>
          <a:p>
            <a:r>
              <a:rPr lang="en-US" sz="1200" dirty="0"/>
              <a:t>IP reputation score</a:t>
            </a:r>
          </a:p>
          <a:p>
            <a:r>
              <a:rPr lang="en-US" sz="1200" b="1" dirty="0"/>
              <a:t>Processing Logic</a:t>
            </a:r>
          </a:p>
          <a:p>
            <a:r>
              <a:rPr lang="en-US" sz="1200" dirty="0"/>
              <a:t>Signals are extracted from raw inputs</a:t>
            </a:r>
          </a:p>
          <a:p>
            <a:r>
              <a:rPr lang="en-US" sz="1200" dirty="0"/>
              <a:t>Weighted scoring is applied to calculate risk</a:t>
            </a:r>
          </a:p>
          <a:p>
            <a:r>
              <a:rPr lang="en-US" sz="1200" dirty="0"/>
              <a:t>Severity is classified as:</a:t>
            </a:r>
          </a:p>
          <a:p>
            <a:pPr lvl="1"/>
            <a:r>
              <a:rPr lang="en-US" sz="1200" dirty="0"/>
              <a:t>Low</a:t>
            </a:r>
          </a:p>
          <a:p>
            <a:pPr lvl="1"/>
            <a:r>
              <a:rPr lang="en-US" sz="1200" dirty="0"/>
              <a:t>Medium</a:t>
            </a:r>
          </a:p>
          <a:p>
            <a:pPr lvl="1"/>
            <a:r>
              <a:rPr lang="en-US" sz="1200" dirty="0"/>
              <a:t>High</a:t>
            </a:r>
          </a:p>
          <a:p>
            <a:pPr lvl="1"/>
            <a:r>
              <a:rPr lang="en-US" sz="1200" dirty="0"/>
              <a:t>Critical</a:t>
            </a:r>
          </a:p>
          <a:p>
            <a:r>
              <a:rPr lang="en-US" sz="1200" dirty="0"/>
              <a:t>Security actions are selected based on severity</a:t>
            </a:r>
          </a:p>
        </p:txBody>
      </p:sp>
      <p:sp>
        <p:nvSpPr>
          <p:cNvPr id="4" name="TextBox 3">
            <a:extLst>
              <a:ext uri="{FF2B5EF4-FFF2-40B4-BE49-F238E27FC236}">
                <a16:creationId xmlns:a16="http://schemas.microsoft.com/office/drawing/2014/main" id="{3933CBC5-A466-F244-EBCC-42783780EB47}"/>
              </a:ext>
            </a:extLst>
          </p:cNvPr>
          <p:cNvSpPr txBox="1"/>
          <p:nvPr/>
        </p:nvSpPr>
        <p:spPr>
          <a:xfrm>
            <a:off x="7095763" y="1757514"/>
            <a:ext cx="5096237" cy="1015663"/>
          </a:xfrm>
          <a:prstGeom prst="rect">
            <a:avLst/>
          </a:prstGeom>
          <a:noFill/>
        </p:spPr>
        <p:txBody>
          <a:bodyPr wrap="square" rtlCol="0">
            <a:spAutoFit/>
          </a:bodyPr>
          <a:lstStyle/>
          <a:p>
            <a:r>
              <a:rPr lang="en-US" sz="1200" b="1" dirty="0"/>
              <a:t>Deployment</a:t>
            </a:r>
          </a:p>
          <a:p>
            <a:r>
              <a:rPr lang="en-US" sz="1200" dirty="0"/>
              <a:t>Flask application deployed on </a:t>
            </a:r>
            <a:r>
              <a:rPr lang="en-US" sz="1200" b="1" dirty="0"/>
              <a:t>Render Cloud</a:t>
            </a:r>
            <a:endParaRPr lang="en-US" sz="1200" dirty="0"/>
          </a:p>
          <a:p>
            <a:r>
              <a:rPr lang="en-US" sz="1200" dirty="0"/>
              <a:t>Environment variables used for API key security</a:t>
            </a:r>
          </a:p>
          <a:p>
            <a:r>
              <a:rPr lang="en-US" sz="1200" dirty="0"/>
              <a:t>Public URL enables access from anywhere</a:t>
            </a:r>
          </a:p>
          <a:p>
            <a:r>
              <a:rPr lang="en-US" sz="1200" dirty="0"/>
              <a:t>GitHub repository connected for continuous updates</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1"/>
            <a:ext cx="10515600" cy="577368"/>
          </a:xfrm>
        </p:spPr>
        <p:txBody>
          <a:bodyPr lIns="91440" tIns="45720" rIns="91440" bIns="45720" anchor="t">
            <a:normAutofit fontScale="90000"/>
          </a:bodyPr>
          <a:lstStyle/>
          <a:p>
            <a:r>
              <a:rPr lang="en-US" sz="4000" b="1" cap="all" dirty="0">
                <a:latin typeface="Arial"/>
                <a:cs typeface="Arial"/>
              </a:rPr>
              <a:t>Result:</a:t>
            </a:r>
            <a:endParaRPr lang="en-US" sz="4000" dirty="0"/>
          </a:p>
        </p:txBody>
      </p:sp>
      <p:sp>
        <p:nvSpPr>
          <p:cNvPr id="15" name="Content Placeholder 14">
            <a:extLst>
              <a:ext uri="{FF2B5EF4-FFF2-40B4-BE49-F238E27FC236}">
                <a16:creationId xmlns:a16="http://schemas.microsoft.com/office/drawing/2014/main" id="{E6015FEE-EDD7-A723-ECEE-48BB4B36F541}"/>
              </a:ext>
            </a:extLst>
          </p:cNvPr>
          <p:cNvSpPr>
            <a:spLocks noGrp="1"/>
          </p:cNvSpPr>
          <p:nvPr>
            <p:ph idx="1"/>
          </p:nvPr>
        </p:nvSpPr>
        <p:spPr/>
        <p:txBody>
          <a:bodyPr/>
          <a:lstStyle/>
          <a:p>
            <a:pPr marL="0" indent="0">
              <a:buNone/>
            </a:pPr>
            <a:endParaRPr lang="en-IN" dirty="0"/>
          </a:p>
        </p:txBody>
      </p:sp>
      <p:sp>
        <p:nvSpPr>
          <p:cNvPr id="16" name="Rectangle 5">
            <a:extLst>
              <a:ext uri="{FF2B5EF4-FFF2-40B4-BE49-F238E27FC236}">
                <a16:creationId xmlns:a16="http://schemas.microsoft.com/office/drawing/2014/main" id="{D5A2F1FC-91F4-FCA5-8CDC-2706C897FA03}"/>
              </a:ext>
            </a:extLst>
          </p:cNvPr>
          <p:cNvSpPr>
            <a:spLocks noChangeArrowheads="1"/>
          </p:cNvSpPr>
          <p:nvPr/>
        </p:nvSpPr>
        <p:spPr bwMode="auto">
          <a:xfrm rot="10800000" flipV="1">
            <a:off x="243068" y="1304465"/>
            <a:ext cx="11948932" cy="3791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Successfully built a </a:t>
            </a:r>
            <a:r>
              <a:rPr kumimoji="0" lang="en-US" altLang="en-US" sz="1800" b="1" i="0" u="none" strike="noStrike" cap="none" normalizeH="0" baseline="0" dirty="0">
                <a:ln>
                  <a:noFill/>
                </a:ln>
                <a:solidFill>
                  <a:schemeClr val="tx1"/>
                </a:solidFill>
                <a:effectLst/>
              </a:rPr>
              <a:t>fully functional AI-based SOC platform</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Real-time threat detection and risk analysis achieved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Automated security actions generated dynamically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Incident logs displayed with severity-based color coding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Deployed live and accessible globally</a:t>
            </a:r>
          </a:p>
          <a:p>
            <a:pPr marL="0" marR="0" lvl="0" indent="0" algn="l" defTabSz="914400" rtl="0" eaLnBrk="0" fontAlgn="base" latinLnBrk="0" hangingPunct="0">
              <a:lnSpc>
                <a:spcPct val="15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err="1">
                <a:ln>
                  <a:noFill/>
                </a:ln>
                <a:solidFill>
                  <a:schemeClr val="tx1"/>
                </a:solidFill>
                <a:effectLst/>
              </a:rPr>
              <a:t>Githu</a:t>
            </a:r>
            <a:r>
              <a:rPr lang="en-US" altLang="en-US" dirty="0" err="1"/>
              <a:t>b</a:t>
            </a:r>
            <a:r>
              <a:rPr lang="en-US" altLang="en-US" dirty="0"/>
              <a:t> link: </a:t>
            </a:r>
            <a:r>
              <a:rPr lang="en-US" altLang="en-US" dirty="0">
                <a:hlinkClick r:id="rId2"/>
              </a:rPr>
              <a:t>click here</a:t>
            </a:r>
            <a:endParaRPr lang="en-US" altLang="en-US" dirty="0"/>
          </a:p>
          <a:p>
            <a:pPr marL="0" marR="0" lvl="0" indent="0" algn="l" defTabSz="914400" rtl="0" eaLnBrk="0" fontAlgn="base" latinLnBrk="0" hangingPunct="0">
              <a:lnSpc>
                <a:spcPct val="150000"/>
              </a:lnSpc>
              <a:spcBef>
                <a:spcPct val="0"/>
              </a:spcBef>
              <a:spcAft>
                <a:spcPct val="0"/>
              </a:spcAft>
              <a:buClrTx/>
              <a:buSzTx/>
              <a:tabLst/>
            </a:pPr>
            <a:r>
              <a:rPr lang="en-US" altLang="en-US" dirty="0"/>
              <a:t>Live demo : </a:t>
            </a:r>
            <a:r>
              <a:rPr lang="en-US" altLang="en-US" dirty="0">
                <a:hlinkClick r:id="rId3"/>
              </a:rPr>
              <a:t>Click here</a:t>
            </a:r>
            <a:endParaRPr lang="en-US" altLang="en-US" dirty="0"/>
          </a:p>
          <a:p>
            <a:pPr marL="0" marR="0" lvl="0" indent="0" algn="l" defTabSz="914400" rtl="0" eaLnBrk="0" fontAlgn="base" latinLnBrk="0" hangingPunct="0">
              <a:lnSpc>
                <a:spcPct val="150000"/>
              </a:lnSpc>
              <a:spcBef>
                <a:spcPct val="0"/>
              </a:spcBef>
              <a:spcAft>
                <a:spcPct val="0"/>
              </a:spcAft>
              <a:buClrTx/>
              <a:buSzTx/>
              <a:tabLst/>
            </a:pPr>
            <a:endParaRPr lang="en-US" altLang="en-US"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1800" dirty="0"/>
              <a:t>The </a:t>
            </a:r>
            <a:r>
              <a:rPr lang="en-US" sz="1800" b="1" dirty="0"/>
              <a:t>AI SecureWatch</a:t>
            </a:r>
            <a:r>
              <a:rPr lang="en-US" sz="1800" dirty="0"/>
              <a:t> project demonstrates how intelligent security monitoring can be achieved using AI-driven logic and modern web technologies. By combining real-time signal analysis, automated risk evaluation, and an interactive SOC dashboard, the system provides proactive cloud security monitoring.</a:t>
            </a:r>
          </a:p>
          <a:p>
            <a:r>
              <a:rPr lang="en-US" sz="1800" dirty="0"/>
              <a:t>This approach reduces dependency on manual analysis, improves incident response time, and enhances overall security posture. The project successfully bridges the gap between traditional monitoring systems and intelligent cloud security solutions.</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flipV="1">
            <a:off x="268071" y="1258715"/>
            <a:ext cx="10515600" cy="45719"/>
          </a:xfrm>
        </p:spPr>
        <p:txBody>
          <a:bodyPr vert="horz" lIns="91440" tIns="45720" rIns="91440" bIns="45720" rtlCol="0">
            <a:normAutofit fontScale="25000" lnSpcReduction="20000"/>
          </a:bodyPr>
          <a:lstStyle/>
          <a:p>
            <a:pPr marL="0" indent="0">
              <a:spcBef>
                <a:spcPct val="20000"/>
              </a:spcBef>
              <a:spcAft>
                <a:spcPts val="600"/>
              </a:spcAft>
              <a:buNone/>
            </a:pPr>
            <a:endParaRPr lang="en-US" sz="2200" dirty="0">
              <a:latin typeface="Franklin Gothic Book"/>
            </a:endParaRPr>
          </a:p>
          <a:p>
            <a:pPr marL="0" indent="0">
              <a:spcBef>
                <a:spcPct val="20000"/>
              </a:spcBef>
              <a:spcAft>
                <a:spcPts val="600"/>
              </a:spcAft>
              <a:buNone/>
            </a:pPr>
            <a:endParaRPr lang="en-GB" sz="2200" dirty="0"/>
          </a:p>
        </p:txBody>
      </p:sp>
      <p:sp>
        <p:nvSpPr>
          <p:cNvPr id="4" name="Rectangle 1">
            <a:extLst>
              <a:ext uri="{FF2B5EF4-FFF2-40B4-BE49-F238E27FC236}">
                <a16:creationId xmlns:a16="http://schemas.microsoft.com/office/drawing/2014/main" id="{873BE3C2-2D8E-30B9-2051-442A54A543D6}"/>
              </a:ext>
            </a:extLst>
          </p:cNvPr>
          <p:cNvSpPr>
            <a:spLocks noChangeArrowheads="1"/>
          </p:cNvSpPr>
          <p:nvPr/>
        </p:nvSpPr>
        <p:spPr bwMode="auto">
          <a:xfrm>
            <a:off x="322086" y="1258715"/>
            <a:ext cx="12330896" cy="2545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Integration with real cloud logs (AWS, Azure, GCP)</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Use of machine learning models for advanced anomaly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Role-based access control for SOC users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Real-time alert notifications via email/SMS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Mobile-friendly SOC dashboard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Integration with SIEM tools and threat intelligence feeds</a:t>
            </a:r>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4" name="Rectangle 1">
            <a:extLst>
              <a:ext uri="{FF2B5EF4-FFF2-40B4-BE49-F238E27FC236}">
                <a16:creationId xmlns:a16="http://schemas.microsoft.com/office/drawing/2014/main" id="{F8E5CFE8-C34A-3FDE-0E89-F9C3223462B3}"/>
              </a:ext>
            </a:extLst>
          </p:cNvPr>
          <p:cNvSpPr>
            <a:spLocks noChangeArrowheads="1"/>
          </p:cNvSpPr>
          <p:nvPr/>
        </p:nvSpPr>
        <p:spPr bwMode="auto">
          <a:xfrm rot="10800000" flipV="1">
            <a:off x="392992" y="1719962"/>
            <a:ext cx="10649256" cy="296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Above ar</a:t>
            </a:r>
            <a:r>
              <a:rPr lang="en-US" altLang="en-US" dirty="0"/>
              <a:t>e the list of the reference for AI-SecureWatch:</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Flask Documentation: </a:t>
            </a:r>
            <a:r>
              <a:rPr kumimoji="0" lang="en-US" altLang="en-US" sz="1800" b="0" i="0" u="none" strike="noStrike" cap="none" normalizeH="0" baseline="0" dirty="0">
                <a:ln>
                  <a:noFill/>
                </a:ln>
                <a:solidFill>
                  <a:schemeClr val="tx1"/>
                </a:solidFill>
                <a:effectLst/>
                <a:hlinkClick r:id="rId2"/>
              </a:rPr>
              <a:t>https://flask.palletsprojects.com/</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OWASP Security Guidelines: </a:t>
            </a:r>
            <a:r>
              <a:rPr kumimoji="0" lang="en-US" altLang="en-US" sz="1800" b="0" i="0" u="none" strike="noStrike" cap="none" normalizeH="0" baseline="0" dirty="0">
                <a:ln>
                  <a:noFill/>
                </a:ln>
                <a:solidFill>
                  <a:schemeClr val="tx1"/>
                </a:solidFill>
                <a:effectLst/>
                <a:hlinkClick r:id="rId3"/>
              </a:rPr>
              <a:t>https://owasp.org/</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Cloud Security Alliance: </a:t>
            </a:r>
            <a:r>
              <a:rPr kumimoji="0" lang="en-US" altLang="en-US" sz="1800" b="0" i="0" u="none" strike="noStrike" cap="none" normalizeH="0" baseline="0" dirty="0">
                <a:ln>
                  <a:noFill/>
                </a:ln>
                <a:solidFill>
                  <a:schemeClr val="tx1"/>
                </a:solidFill>
                <a:effectLst/>
                <a:hlinkClick r:id="rId4"/>
              </a:rPr>
              <a:t>https://cloudsecurityalliance.org/</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Tailwind CSS Documentation: </a:t>
            </a:r>
            <a:r>
              <a:rPr kumimoji="0" lang="en-US" altLang="en-US" sz="1800" b="0" i="0" u="none" strike="noStrike" cap="none" normalizeH="0" baseline="0" dirty="0">
                <a:ln>
                  <a:noFill/>
                </a:ln>
                <a:solidFill>
                  <a:schemeClr val="tx1"/>
                </a:solidFill>
                <a:effectLst/>
                <a:hlinkClick r:id="rId5"/>
              </a:rPr>
              <a:t>https://tailwindcss.com/docs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GitHub Documentation</a:t>
            </a:r>
            <a:r>
              <a:rPr lang="en-US" altLang="en-US" dirty="0"/>
              <a:t>: </a:t>
            </a:r>
            <a:r>
              <a:rPr kumimoji="0" lang="en-US" altLang="en-US" sz="1800" b="0" i="0" u="none" strike="noStrike" cap="none" normalizeH="0" baseline="0" dirty="0">
                <a:ln>
                  <a:noFill/>
                </a:ln>
                <a:solidFill>
                  <a:schemeClr val="tx1"/>
                </a:solidFill>
                <a:effectLst/>
                <a:hlinkClick r:id="rId6"/>
              </a:rPr>
              <a:t>https://docs.github.com/</a:t>
            </a:r>
            <a:endParaRPr kumimoji="0" lang="en-US" altLang="en-US" sz="1800" b="0" i="0" u="none" strike="noStrike" cap="none" normalizeH="0" baseline="0" dirty="0">
              <a:ln>
                <a:noFill/>
              </a:ln>
              <a:solidFill>
                <a:schemeClr val="tx1"/>
              </a:solidFill>
              <a:effectLst/>
            </a:endParaRPr>
          </a:p>
        </p:txBody>
      </p:sp>
      <p:sp>
        <p:nvSpPr>
          <p:cNvPr id="6" name="Content Placeholder 5">
            <a:extLst>
              <a:ext uri="{FF2B5EF4-FFF2-40B4-BE49-F238E27FC236}">
                <a16:creationId xmlns:a16="http://schemas.microsoft.com/office/drawing/2014/main" id="{31CBEBA2-9BAF-7649-7526-3C33DFC126F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777</Words>
  <Application>Microsoft Office PowerPoint</Application>
  <PresentationFormat>Widescreen</PresentationFormat>
  <Paragraphs>105</Paragraphs>
  <Slides>11</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Aptos</vt:lpstr>
      <vt:lpstr>Arial</vt:lpstr>
      <vt:lpstr>Calibri</vt:lpstr>
      <vt:lpstr>Franklin Gothic Book</vt:lpstr>
      <vt:lpstr>Times New Roman</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Bhargav Simha Pathakoti</cp:lastModifiedBy>
  <cp:revision>108</cp:revision>
  <dcterms:created xsi:type="dcterms:W3CDTF">2024-05-21T11:55:07Z</dcterms:created>
  <dcterms:modified xsi:type="dcterms:W3CDTF">2026-01-23T03:59:00Z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